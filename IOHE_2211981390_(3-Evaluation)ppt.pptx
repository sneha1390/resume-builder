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21"/>
  </p:notesMasterIdLst>
  <p:handoutMasterIdLst>
    <p:handoutMasterId r:id="rId22"/>
  </p:handoutMasterIdLst>
  <p:sldIdLst>
    <p:sldId id="256" r:id="rId5"/>
    <p:sldId id="269" r:id="rId6"/>
    <p:sldId id="257" r:id="rId7"/>
    <p:sldId id="280" r:id="rId8"/>
    <p:sldId id="281" r:id="rId9"/>
    <p:sldId id="270" r:id="rId10"/>
    <p:sldId id="271" r:id="rId11"/>
    <p:sldId id="272" r:id="rId12"/>
    <p:sldId id="282" r:id="rId13"/>
    <p:sldId id="273" r:id="rId14"/>
    <p:sldId id="274" r:id="rId15"/>
    <p:sldId id="275" r:id="rId16"/>
    <p:sldId id="277" r:id="rId17"/>
    <p:sldId id="278" r:id="rId18"/>
    <p:sldId id="279" r:id="rId19"/>
    <p:sldId id="268" r:id="rId20"/>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1210" y="29"/>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tailwindcss.com/" TargetMode="External"/><Relationship Id="rId2" Type="http://schemas.openxmlformats.org/officeDocument/2006/relationships/hyperlink" Target="https://react.dev/" TargetMode="External"/><Relationship Id="rId1" Type="http://schemas.openxmlformats.org/officeDocument/2006/relationships/slideLayout" Target="../slideLayouts/slideLayout2.xml"/><Relationship Id="rId4" Type="http://schemas.openxmlformats.org/officeDocument/2006/relationships/hyperlink" Target="https://www.mongodb.com/docs/"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612396" y="1258349"/>
            <a:ext cx="7902430" cy="4959571"/>
          </a:xfrm>
          <a:prstGeom prst="rect">
            <a:avLst/>
          </a:prstGeom>
          <a:noFill/>
          <a:ln w="9360">
            <a:noFill/>
          </a:ln>
        </p:spPr>
        <p:txBody>
          <a:bodyPr>
            <a:noAutofit/>
          </a:bodyPr>
          <a:lstStyle/>
          <a:p>
            <a:pPr algn="ctr">
              <a:lnSpc>
                <a:spcPct val="100000"/>
              </a:lnSpc>
              <a:spcBef>
                <a:spcPts val="400"/>
              </a:spcBef>
            </a:pPr>
            <a:r>
              <a:rPr lang="en-IN" sz="1600" b="1" dirty="0">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p>
          <a:p>
            <a:pPr algn="ctr">
              <a:lnSpc>
                <a:spcPct val="100000"/>
              </a:lnSpc>
              <a:spcBef>
                <a:spcPts val="400"/>
              </a:spcBef>
            </a:pPr>
            <a:r>
              <a:rPr lang="en-US" sz="16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3200" b="1" strike="noStrike" spc="-1" dirty="0">
                <a:solidFill>
                  <a:srgbClr val="000000"/>
                </a:solidFill>
                <a:latin typeface="Times New Roman" panose="02020603050405020304" pitchFamily="18" charset="0"/>
                <a:ea typeface="MS PGothic"/>
                <a:cs typeface="Times New Roman" panose="02020603050405020304" pitchFamily="18" charset="0"/>
              </a:rPr>
              <a:t>Resume Builder</a:t>
            </a: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Sneha Kumari</a:t>
            </a: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2211981390</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spc="-1" dirty="0">
                <a:latin typeface="Times New Roman" panose="02020603050405020304" pitchFamily="18" charset="0"/>
                <a:ea typeface="MS PGothic"/>
                <a:cs typeface="Times New Roman" panose="02020603050405020304" pitchFamily="18" charset="0"/>
              </a:rPr>
              <a:t>Dr. Rajat Takkar</a:t>
            </a: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641"/>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37B07-04BC-7C3A-AD70-C33A381C8C6A}"/>
              </a:ext>
            </a:extLst>
          </p:cNvPr>
          <p:cNvSpPr>
            <a:spLocks noGrp="1"/>
          </p:cNvSpPr>
          <p:nvPr>
            <p:ph type="title"/>
          </p:nvPr>
        </p:nvSpPr>
        <p:spPr>
          <a:xfrm>
            <a:off x="3070371" y="134224"/>
            <a:ext cx="2759977" cy="536895"/>
          </a:xfrm>
        </p:spPr>
        <p:txBody>
          <a:bodyPr/>
          <a:lstStyle/>
          <a:p>
            <a:r>
              <a:rPr lang="en-US" dirty="0"/>
              <a:t>Index</a:t>
            </a:r>
            <a:endParaRPr lang="en-IN" dirty="0"/>
          </a:p>
        </p:txBody>
      </p:sp>
      <p:sp>
        <p:nvSpPr>
          <p:cNvPr id="3" name="Subtitle 2">
            <a:extLst>
              <a:ext uri="{FF2B5EF4-FFF2-40B4-BE49-F238E27FC236}">
                <a16:creationId xmlns:a16="http://schemas.microsoft.com/office/drawing/2014/main" id="{73BF9F2D-1291-40C1-97AF-8596AFCD2049}"/>
              </a:ext>
            </a:extLst>
          </p:cNvPr>
          <p:cNvSpPr>
            <a:spLocks noGrp="1"/>
          </p:cNvSpPr>
          <p:nvPr>
            <p:ph type="subTitle"/>
          </p:nvPr>
        </p:nvSpPr>
        <p:spPr>
          <a:xfrm>
            <a:off x="457200" y="1384182"/>
            <a:ext cx="8229240" cy="4051883"/>
          </a:xfrm>
        </p:spPr>
        <p:txBody>
          <a:bodyPr/>
          <a:lstStyle/>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Introduction</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SDG goals</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Problem Statement &amp; </a:t>
            </a:r>
            <a:r>
              <a:rPr lang="en-IN" sz="1800" dirty="0"/>
              <a:t>Solution Statement</a:t>
            </a:r>
            <a:endParaRPr lang="en-IN" sz="18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Objectives</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Technologies Used</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Flow Chart</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Use Case Diagram</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Project Pics (screenshots)</a:t>
            </a:r>
          </a:p>
          <a:p>
            <a:pPr marL="342900" indent="-342900">
              <a:buFont typeface="Arial" panose="020B0604020202020204" pitchFamily="34" charset="0"/>
              <a:buChar char="•"/>
            </a:pPr>
            <a:r>
              <a:rPr lang="en-US" altLang="en-IN" sz="2000" dirty="0">
                <a:latin typeface="Times New Roman" panose="02020603050405020304" pitchFamily="18" charset="0"/>
                <a:cs typeface="Times New Roman" panose="02020603050405020304" pitchFamily="18" charset="0"/>
              </a:rPr>
              <a:t>Result</a:t>
            </a: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Conclusion</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Future Scope</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Reference</a:t>
            </a:r>
          </a:p>
          <a:p>
            <a:endParaRPr lang="en-IN" sz="2000" dirty="0"/>
          </a:p>
        </p:txBody>
      </p:sp>
    </p:spTree>
    <p:extLst>
      <p:ext uri="{BB962C8B-B14F-4D97-AF65-F5344CB8AC3E}">
        <p14:creationId xmlns:p14="http://schemas.microsoft.com/office/powerpoint/2010/main" val="555241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3</a:t>
            </a:fld>
            <a:endParaRPr lang="en-GB" sz="1200" b="0" strike="noStrike" spc="-1">
              <a:latin typeface="Times New Roman"/>
            </a:endParaRPr>
          </a:p>
        </p:txBody>
      </p:sp>
      <p:sp>
        <p:nvSpPr>
          <p:cNvPr id="5" name="TextShape 2"/>
          <p:cNvSpPr txBox="1"/>
          <p:nvPr/>
        </p:nvSpPr>
        <p:spPr>
          <a:xfrm>
            <a:off x="164008" y="1501629"/>
            <a:ext cx="8585709" cy="4446684"/>
          </a:xfrm>
          <a:prstGeom prst="rect">
            <a:avLst/>
          </a:prstGeom>
          <a:noFill/>
          <a:ln w="9360">
            <a:noFill/>
          </a:ln>
        </p:spPr>
        <p:txBody>
          <a:bodyPr>
            <a:noAutofit/>
          </a:bodyPr>
          <a:lstStyle/>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Resume Builder </a:t>
            </a:r>
            <a:r>
              <a:rPr lang="en-US" dirty="0">
                <a:latin typeface="Times New Roman" panose="02020603050405020304" pitchFamily="18" charset="0"/>
                <a:cs typeface="Times New Roman" panose="02020603050405020304" pitchFamily="18" charset="0"/>
              </a:rPr>
              <a:t>is a web-based application designed to help users create professional and well-structured resumes easily and efficiently.</a:t>
            </a:r>
          </a:p>
          <a:p>
            <a:pPr marL="342900" indent="-34290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allows users to input their personal information, educational background, skills, certifications and work experience in a simple interface. </a:t>
            </a:r>
          </a:p>
          <a:p>
            <a:pPr marL="342900" indent="-34290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application then generates a clean and formatted resume instantly. </a:t>
            </a:r>
          </a:p>
          <a:p>
            <a:pPr marL="114300"/>
            <a:endParaRPr lang="en-US"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also provides customizable templates and real-time preview options to  improve user experience.  </a:t>
            </a:r>
          </a:p>
          <a:p>
            <a:pPr marL="342900" indent="-34290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is especially useful for students and job seekers who want to create attractive resumes quickly without requiring advanced technical or design skills.</a:t>
            </a:r>
          </a:p>
          <a:p>
            <a:pPr marL="342900" indent="-34290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E2C-6821-85BC-26D7-57B8FDFC1C69}"/>
              </a:ext>
            </a:extLst>
          </p:cNvPr>
          <p:cNvSpPr>
            <a:spLocks noGrp="1"/>
          </p:cNvSpPr>
          <p:nvPr>
            <p:ph type="title"/>
          </p:nvPr>
        </p:nvSpPr>
        <p:spPr>
          <a:xfrm>
            <a:off x="2843868" y="260059"/>
            <a:ext cx="2843507" cy="385894"/>
          </a:xfrm>
        </p:spPr>
        <p:txBody>
          <a:bodyPr/>
          <a:lstStyle/>
          <a:p>
            <a:r>
              <a:rPr lang="en-IN" sz="2400" b="1" dirty="0">
                <a:latin typeface="Times New Roman" panose="02020603050405020304" pitchFamily="18" charset="0"/>
                <a:cs typeface="Times New Roman" panose="02020603050405020304" pitchFamily="18" charset="0"/>
              </a:rPr>
              <a:t>SDG goals</a:t>
            </a:r>
          </a:p>
        </p:txBody>
      </p:sp>
      <p:sp>
        <p:nvSpPr>
          <p:cNvPr id="3" name="Subtitle 2">
            <a:extLst>
              <a:ext uri="{FF2B5EF4-FFF2-40B4-BE49-F238E27FC236}">
                <a16:creationId xmlns:a16="http://schemas.microsoft.com/office/drawing/2014/main" id="{746AD43C-21BA-0FA4-A8C7-5C3BC3A3427B}"/>
              </a:ext>
            </a:extLst>
          </p:cNvPr>
          <p:cNvSpPr>
            <a:spLocks noGrp="1"/>
          </p:cNvSpPr>
          <p:nvPr>
            <p:ph type="subTitle"/>
          </p:nvPr>
        </p:nvSpPr>
        <p:spPr>
          <a:xfrm>
            <a:off x="457200" y="1677798"/>
            <a:ext cx="5071145" cy="3942826"/>
          </a:xfrm>
        </p:spPr>
        <p:txBody>
          <a:bodyPr/>
          <a:lstStyle/>
          <a:p>
            <a:pPr marL="0" indent="0">
              <a:buNone/>
            </a:pPr>
            <a:r>
              <a:rPr lang="en-US" sz="2000" b="1" dirty="0">
                <a:latin typeface="Times New Roman" panose="02020603050405020304" pitchFamily="18" charset="0"/>
                <a:cs typeface="Times New Roman" panose="02020603050405020304" pitchFamily="18" charset="0"/>
              </a:rPr>
              <a:t> 1. Quality Education (SDG 4)</a:t>
            </a:r>
          </a:p>
          <a:p>
            <a:pPr marL="0" indent="0">
              <a:buNone/>
            </a:pPr>
            <a:endParaRPr lang="en-US" sz="20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Helps users learn how to create professional resumes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Improves career readiness and digital skills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Supports students and freshers in job preparation </a:t>
            </a: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2. Decent Work and Economic Growth (SDG 8)</a:t>
            </a:r>
          </a:p>
          <a:p>
            <a:pPr marL="0" indent="0">
              <a:buNone/>
            </a:pPr>
            <a:endParaRPr lang="en-US" sz="18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Increases employment opportunities </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Helps users present skills effectively </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Supports job seekers in getting better jobs</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13F703D-B000-6FB7-850C-6BA9F018065D}"/>
              </a:ext>
            </a:extLst>
          </p:cNvPr>
          <p:cNvPicPr>
            <a:picLocks noChangeAspect="1"/>
          </p:cNvPicPr>
          <p:nvPr/>
        </p:nvPicPr>
        <p:blipFill>
          <a:blip r:embed="rId2"/>
          <a:stretch>
            <a:fillRect/>
          </a:stretch>
        </p:blipFill>
        <p:spPr>
          <a:xfrm>
            <a:off x="6400800" y="1778466"/>
            <a:ext cx="1627463" cy="1342239"/>
          </a:xfrm>
          <a:prstGeom prst="rect">
            <a:avLst/>
          </a:prstGeom>
        </p:spPr>
      </p:pic>
      <p:pic>
        <p:nvPicPr>
          <p:cNvPr id="7" name="Picture 6">
            <a:extLst>
              <a:ext uri="{FF2B5EF4-FFF2-40B4-BE49-F238E27FC236}">
                <a16:creationId xmlns:a16="http://schemas.microsoft.com/office/drawing/2014/main" id="{DE655201-F74E-DE0B-CD4E-EABBDC06C350}"/>
              </a:ext>
            </a:extLst>
          </p:cNvPr>
          <p:cNvPicPr>
            <a:picLocks noChangeAspect="1"/>
          </p:cNvPicPr>
          <p:nvPr/>
        </p:nvPicPr>
        <p:blipFill>
          <a:blip r:embed="rId3"/>
          <a:stretch>
            <a:fillRect/>
          </a:stretch>
        </p:blipFill>
        <p:spPr>
          <a:xfrm>
            <a:off x="6342077" y="3737296"/>
            <a:ext cx="1762311" cy="1442906"/>
          </a:xfrm>
          <a:prstGeom prst="rect">
            <a:avLst/>
          </a:prstGeom>
        </p:spPr>
      </p:pic>
    </p:spTree>
    <p:extLst>
      <p:ext uri="{BB962C8B-B14F-4D97-AF65-F5344CB8AC3E}">
        <p14:creationId xmlns:p14="http://schemas.microsoft.com/office/powerpoint/2010/main" val="19500361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5894E-A3F2-446C-7228-3A991BC81457}"/>
              </a:ext>
            </a:extLst>
          </p:cNvPr>
          <p:cNvSpPr>
            <a:spLocks noGrp="1"/>
          </p:cNvSpPr>
          <p:nvPr>
            <p:ph type="title"/>
          </p:nvPr>
        </p:nvSpPr>
        <p:spPr>
          <a:xfrm>
            <a:off x="889233" y="209724"/>
            <a:ext cx="5469622" cy="461395"/>
          </a:xfrm>
        </p:spPr>
        <p:txBody>
          <a:bodyPr/>
          <a:lstStyle/>
          <a:p>
            <a:r>
              <a:rPr lang="en-IN" sz="2400" b="1" dirty="0">
                <a:latin typeface="Times New Roman" panose="02020603050405020304" pitchFamily="18" charset="0"/>
                <a:cs typeface="Times New Roman" panose="02020603050405020304" pitchFamily="18" charset="0"/>
              </a:rPr>
              <a:t>Problem Statement &amp; Solution Statement</a:t>
            </a:r>
          </a:p>
        </p:txBody>
      </p:sp>
      <p:sp>
        <p:nvSpPr>
          <p:cNvPr id="3" name="Subtitle 2">
            <a:extLst>
              <a:ext uri="{FF2B5EF4-FFF2-40B4-BE49-F238E27FC236}">
                <a16:creationId xmlns:a16="http://schemas.microsoft.com/office/drawing/2014/main" id="{4F26217A-10B7-F9A4-C259-36CEA3978819}"/>
              </a:ext>
            </a:extLst>
          </p:cNvPr>
          <p:cNvSpPr>
            <a:spLocks noGrp="1"/>
          </p:cNvSpPr>
          <p:nvPr>
            <p:ph type="subTitle"/>
          </p:nvPr>
        </p:nvSpPr>
        <p:spPr>
          <a:xfrm>
            <a:off x="457200" y="1308682"/>
            <a:ext cx="8229240" cy="4857226"/>
          </a:xfrm>
        </p:spPr>
        <p:txBody>
          <a:bodyPr/>
          <a:lstStyle/>
          <a:p>
            <a:pPr marL="0" indent="0">
              <a:buNone/>
            </a:pPr>
            <a:r>
              <a:rPr lang="en-US" sz="1800" b="1" dirty="0">
                <a:latin typeface="Times New Roman" panose="02020603050405020304" pitchFamily="18" charset="0"/>
                <a:cs typeface="Times New Roman" panose="02020603050405020304" pitchFamily="18" charset="0"/>
              </a:rPr>
              <a:t>Problem Statement :</a:t>
            </a:r>
          </a:p>
          <a:p>
            <a:pPr marL="0" indent="0">
              <a:buNone/>
            </a:pPr>
            <a:r>
              <a:rPr lang="en-US" sz="1800" dirty="0">
                <a:latin typeface="Times New Roman" panose="02020603050405020304" pitchFamily="18" charset="0"/>
                <a:cs typeface="Times New Roman" panose="02020603050405020304" pitchFamily="18" charset="0"/>
              </a:rPr>
              <a:t>Many students and job seekers face difficulty in creating professional resumes due to a lack of design skills, proper guidance, and access to easy-to-use tools. They often struggle to choose the correct format and structure, resulting in incomplete or ineffective resumes. Additionally, many existing resume-building platforms are complex or require paid subscriptions, which limits accessibility. As a result, users are unable to present their skills effectively, reducing their chances of securing suitable job opportunities.</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Solution Statement :</a:t>
            </a:r>
          </a:p>
          <a:p>
            <a:pPr marL="0" indent="0">
              <a:buNone/>
            </a:pPr>
            <a:r>
              <a:rPr lang="en-US" sz="1800" dirty="0">
                <a:latin typeface="Times New Roman" panose="02020603050405020304" pitchFamily="18" charset="0"/>
                <a:cs typeface="Times New Roman" panose="02020603050405020304" pitchFamily="18" charset="0"/>
              </a:rPr>
              <a:t>A web application called "Resume Builder" would be designed as a solution to help students and potential candidates to create a resume easily. The software provides an interface where one can put his or her personal information, academic qualifications, skills, and working experience into a form, and as a result, a professionally formatted resume will be generated automatically. The application will consist of some useful options like designing templates and automatic preview, thus minimizing the necessity to possess any design abilities as well as making resume creation much faster and easier.</a:t>
            </a:r>
          </a:p>
          <a:p>
            <a:pPr marL="0" indent="0">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4325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E8C1497-0D89-6D56-55EA-7E7DED764082}"/>
              </a:ext>
            </a:extLst>
          </p:cNvPr>
          <p:cNvSpPr>
            <a:spLocks noGrp="1"/>
          </p:cNvSpPr>
          <p:nvPr>
            <p:ph type="subTitle"/>
          </p:nvPr>
        </p:nvSpPr>
        <p:spPr>
          <a:xfrm>
            <a:off x="738231" y="1233182"/>
            <a:ext cx="7432646" cy="4219661"/>
          </a:xfrm>
        </p:spPr>
        <p:txBody>
          <a:bodyPr/>
          <a:lstStyle/>
          <a:p>
            <a:pPr marL="0" lvl="0" indent="0" eaLnBrk="0" fontAlgn="base" hangingPunct="0">
              <a:lnSpc>
                <a:spcPct val="100000"/>
              </a:lnSpc>
              <a:spcBef>
                <a:spcPct val="0"/>
              </a:spcBef>
              <a:spcAft>
                <a:spcPct val="0"/>
              </a:spcAft>
              <a:buNone/>
            </a:pPr>
            <a:endParaRPr lang="en-US" altLang="en-US" sz="18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None/>
            </a:pPr>
            <a:endParaRPr lang="en-US" altLang="en-US" sz="18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None/>
            </a:pPr>
            <a:endParaRPr lang="en-US" altLang="en-US" sz="18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endParaRPr lang="en-US" altLang="en-US" sz="18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endParaRPr lang="en-US" altLang="en-US" sz="18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To create a web application for building professional resumes </a:t>
            </a:r>
          </a:p>
          <a:p>
            <a:pPr marL="0" lvl="0" indent="0" eaLnBrk="0" fontAlgn="base" hangingPunct="0">
              <a:lnSpc>
                <a:spcPct val="100000"/>
              </a:lnSpc>
              <a:spcBef>
                <a:spcPct val="0"/>
              </a:spcBef>
              <a:spcAft>
                <a:spcPct val="0"/>
              </a:spcAft>
              <a:buNone/>
            </a:pPr>
            <a:endParaRPr lang="en-US" altLang="en-US" sz="18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To simplify and automate resume creation </a:t>
            </a:r>
          </a:p>
          <a:p>
            <a:pPr marL="0" lvl="0" indent="0" eaLnBrk="0" fontAlgn="base" hangingPunct="0">
              <a:lnSpc>
                <a:spcPct val="100000"/>
              </a:lnSpc>
              <a:spcBef>
                <a:spcPct val="0"/>
              </a:spcBef>
              <a:spcAft>
                <a:spcPct val="0"/>
              </a:spcAft>
              <a:buNone/>
            </a:pPr>
            <a:endParaRPr lang="en-US" altLang="en-US" sz="18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To provide ready-made templates and proper formatting </a:t>
            </a:r>
          </a:p>
          <a:p>
            <a:pPr marL="0" lvl="0" indent="0" eaLnBrk="0" fontAlgn="base" hangingPunct="0">
              <a:lnSpc>
                <a:spcPct val="100000"/>
              </a:lnSpc>
              <a:spcBef>
                <a:spcPct val="0"/>
              </a:spcBef>
              <a:spcAft>
                <a:spcPct val="0"/>
              </a:spcAft>
            </a:pPr>
            <a:endParaRPr lang="en-US" altLang="en-US" sz="18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To save time and reduce manual effort </a:t>
            </a:r>
          </a:p>
          <a:p>
            <a:pPr marL="0" lvl="0" indent="0" eaLnBrk="0" fontAlgn="base" hangingPunct="0">
              <a:lnSpc>
                <a:spcPct val="100000"/>
              </a:lnSpc>
              <a:spcBef>
                <a:spcPct val="0"/>
              </a:spcBef>
              <a:spcAft>
                <a:spcPct val="0"/>
              </a:spcAft>
              <a:buNone/>
            </a:pPr>
            <a:endParaRPr lang="en-US" altLang="en-US" sz="18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To generate clean and attractive resumes for users </a:t>
            </a:r>
          </a:p>
          <a:p>
            <a:pPr marL="0" lvl="0" indent="0" eaLnBrk="0" fontAlgn="base" hangingPunct="0">
              <a:lnSpc>
                <a:spcPct val="100000"/>
              </a:lnSpc>
              <a:spcBef>
                <a:spcPct val="0"/>
              </a:spcBef>
              <a:spcAft>
                <a:spcPct val="0"/>
              </a:spcAft>
              <a:buNone/>
            </a:pPr>
            <a:endParaRPr lang="en-US" altLang="en-US" sz="18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FontTx/>
              <a:buChar char="•"/>
            </a:pPr>
            <a:r>
              <a:rPr lang="en-US" sz="1800" dirty="0">
                <a:latin typeface="Times New Roman" panose="02020603050405020304" pitchFamily="18" charset="0"/>
                <a:cs typeface="Times New Roman" panose="02020603050405020304" pitchFamily="18" charset="0"/>
              </a:rPr>
              <a:t>To ensure a user-friendly and responsive interface for all devices. </a:t>
            </a:r>
          </a:p>
          <a:p>
            <a:pPr marL="0" lvl="0" indent="0" eaLnBrk="0" fontAlgn="base" hangingPunct="0">
              <a:lnSpc>
                <a:spcPct val="100000"/>
              </a:lnSpc>
              <a:spcBef>
                <a:spcPct val="0"/>
              </a:spcBef>
              <a:spcAft>
                <a:spcPct val="0"/>
              </a:spcAft>
              <a:buFontTx/>
              <a:buChar char="•"/>
            </a:pPr>
            <a:endParaRPr lang="en-US" altLang="en-US" sz="18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endParaRPr lang="en-US" altLang="en-US" sz="18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endParaRPr lang="en-US" altLang="en-US" sz="18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endParaRPr lang="en-US" altLang="en-US" sz="18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endParaRPr lang="en-US" altLang="en-US" sz="18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endParaRPr lang="en-US" altLang="en-US"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227DAEB1-A827-8793-0052-2B72AEF2EF40}"/>
              </a:ext>
            </a:extLst>
          </p:cNvPr>
          <p:cNvSpPr>
            <a:spLocks noGrp="1"/>
          </p:cNvSpPr>
          <p:nvPr>
            <p:ph type="title" idx="4294967295"/>
          </p:nvPr>
        </p:nvSpPr>
        <p:spPr>
          <a:xfrm>
            <a:off x="2516697" y="142875"/>
            <a:ext cx="1979802" cy="477838"/>
          </a:xfrm>
        </p:spPr>
        <p:txBody>
          <a:bodyPr/>
          <a:lstStyle/>
          <a:p>
            <a:r>
              <a:rPr lang="en-US" sz="2800" b="1" dirty="0">
                <a:latin typeface="Times New Roman" panose="02020603050405020304" pitchFamily="18" charset="0"/>
                <a:cs typeface="Times New Roman" panose="02020603050405020304" pitchFamily="18" charset="0"/>
              </a:rPr>
              <a:t>Objectives</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17435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848BE-2C0D-5205-26FF-B294CDBF8EF4}"/>
              </a:ext>
            </a:extLst>
          </p:cNvPr>
          <p:cNvSpPr>
            <a:spLocks noGrp="1"/>
          </p:cNvSpPr>
          <p:nvPr>
            <p:ph type="title"/>
          </p:nvPr>
        </p:nvSpPr>
        <p:spPr>
          <a:xfrm>
            <a:off x="1543573" y="184558"/>
            <a:ext cx="4966283" cy="486561"/>
          </a:xfrm>
        </p:spPr>
        <p:txBody>
          <a:bodyPr/>
          <a:lstStyle/>
          <a:p>
            <a:r>
              <a:rPr lang="en-IN" sz="2400" b="1" dirty="0"/>
              <a:t>Technologies Used</a:t>
            </a:r>
          </a:p>
        </p:txBody>
      </p:sp>
      <p:sp>
        <p:nvSpPr>
          <p:cNvPr id="3" name="Subtitle 2">
            <a:extLst>
              <a:ext uri="{FF2B5EF4-FFF2-40B4-BE49-F238E27FC236}">
                <a16:creationId xmlns:a16="http://schemas.microsoft.com/office/drawing/2014/main" id="{B237F540-F07B-7E8B-283F-2AD608C25EEA}"/>
              </a:ext>
            </a:extLst>
          </p:cNvPr>
          <p:cNvSpPr>
            <a:spLocks noGrp="1"/>
          </p:cNvSpPr>
          <p:nvPr>
            <p:ph type="subTitle"/>
          </p:nvPr>
        </p:nvSpPr>
        <p:spPr>
          <a:xfrm>
            <a:off x="457380" y="1409350"/>
            <a:ext cx="8229240" cy="4068662"/>
          </a:xfrm>
        </p:spPr>
        <p:txBody>
          <a:bodyPr/>
          <a:lstStyle/>
          <a:p>
            <a:pPr marL="114300" indent="0">
              <a:buNone/>
            </a:pPr>
            <a:endParaRPr lang="en-IN" sz="1800" b="1" dirty="0">
              <a:latin typeface="Times New Roman" panose="02020603050405020304" pitchFamily="18" charset="0"/>
              <a:cs typeface="Times New Roman" panose="02020603050405020304" pitchFamily="18" charset="0"/>
            </a:endParaRPr>
          </a:p>
          <a:p>
            <a:pPr marL="342900" indent="-342900">
              <a:buAutoNum type="arabicPeriod"/>
            </a:pPr>
            <a:r>
              <a:rPr lang="en-US" sz="1600" b="1" dirty="0">
                <a:latin typeface="Times New Roman" panose="02020603050405020304" pitchFamily="18" charset="0"/>
                <a:cs typeface="Times New Roman" panose="02020603050405020304" pitchFamily="18" charset="0"/>
              </a:rPr>
              <a:t>Frontend Technologies: </a:t>
            </a:r>
            <a:r>
              <a:rPr lang="en-US" sz="1600" dirty="0">
                <a:latin typeface="Times New Roman" panose="02020603050405020304" pitchFamily="18" charset="0"/>
                <a:cs typeface="Times New Roman" panose="02020603050405020304" pitchFamily="18" charset="0"/>
              </a:rPr>
              <a:t>HTML, Tailwind CSS, JavaScript, React</a:t>
            </a: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frontend is the visible part of the application that users interact with.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React is used to build dynamic and reusable components like forms and templates.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Tailwind CSS helps in designing a clean and responsive UI quickly. </a:t>
            </a:r>
          </a:p>
          <a:p>
            <a:br>
              <a:rPr lang="en-US" sz="1600" dirty="0">
                <a:latin typeface="Times New Roman" panose="02020603050405020304" pitchFamily="18" charset="0"/>
                <a:cs typeface="Times New Roman" panose="02020603050405020304" pitchFamily="18" charset="0"/>
              </a:rPr>
            </a:br>
            <a:endParaRPr lang="en-US" sz="1600"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2. Backend Technologies: </a:t>
            </a:r>
            <a:r>
              <a:rPr lang="en-US" sz="1600" dirty="0">
                <a:latin typeface="Times New Roman" panose="02020603050405020304" pitchFamily="18" charset="0"/>
                <a:cs typeface="Times New Roman" panose="02020603050405020304" pitchFamily="18" charset="0"/>
              </a:rPr>
              <a:t>Node.js, Express.js </a:t>
            </a: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backend handles business logic and data processing.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It receives user data from the frontend and processes it. </a:t>
            </a:r>
          </a:p>
          <a:p>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3. Database: </a:t>
            </a:r>
            <a:r>
              <a:rPr lang="en-US" sz="1600" dirty="0">
                <a:latin typeface="Times New Roman" panose="02020603050405020304" pitchFamily="18" charset="0"/>
                <a:cs typeface="Times New Roman" panose="02020603050405020304" pitchFamily="18" charset="0"/>
              </a:rPr>
              <a:t>MongoDB </a:t>
            </a:r>
          </a:p>
          <a:p>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Used to store user information and resume data.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It allows easy retrieval and updating of resumes.</a:t>
            </a:r>
          </a:p>
          <a:p>
            <a:pPr marL="114300" lvl="0" indent="0" eaLnBrk="0" fontAlgn="base" hangingPunct="0">
              <a:spcBef>
                <a:spcPct val="0"/>
              </a:spcBef>
              <a:spcAft>
                <a:spcPct val="0"/>
              </a:spcAft>
              <a:buNone/>
            </a:pPr>
            <a:endParaRPr lang="en-US"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6522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a:extLst>
              <a:ext uri="{FF2B5EF4-FFF2-40B4-BE49-F238E27FC236}">
                <a16:creationId xmlns:a16="http://schemas.microsoft.com/office/drawing/2014/main" id="{DBF751B5-B48A-7197-91B9-C62EED57C9B8}"/>
              </a:ext>
            </a:extLst>
          </p:cNvPr>
          <p:cNvSpPr>
            <a:spLocks noGrp="1"/>
          </p:cNvSpPr>
          <p:nvPr>
            <p:ph type="subTitle"/>
          </p:nvPr>
        </p:nvSpPr>
        <p:spPr>
          <a:xfrm>
            <a:off x="3783435" y="1182848"/>
            <a:ext cx="5050172" cy="4110606"/>
          </a:xfrm>
        </p:spPr>
        <p:txBody>
          <a:bodyPr/>
          <a:lstStyle/>
          <a:p>
            <a:pPr marL="0" indent="0" eaLnBrk="0" fontAlgn="base" hangingPunct="0">
              <a:lnSpc>
                <a:spcPct val="100000"/>
              </a:lnSpc>
              <a:spcBef>
                <a:spcPct val="0"/>
              </a:spcBef>
              <a:spcAft>
                <a:spcPct val="0"/>
              </a:spcAft>
              <a:buNone/>
            </a:pPr>
            <a:endParaRPr lang="en-US" altLang="en-US" sz="180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lang="en-US" altLang="en-US" sz="1800" dirty="0">
                <a:latin typeface="Times New Roman" panose="02020603050405020304" pitchFamily="18" charset="0"/>
                <a:cs typeface="Times New Roman" panose="02020603050405020304" pitchFamily="18" charset="0"/>
              </a:rPr>
              <a:t>Starts when the user opens the Resume Builder application </a:t>
            </a:r>
          </a:p>
          <a:p>
            <a:pPr marL="0" lvl="0" indent="0" eaLnBrk="0" fontAlgn="base" hangingPunct="0">
              <a:lnSpc>
                <a:spcPct val="10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  User logs in or signs up </a:t>
            </a:r>
          </a:p>
          <a:p>
            <a:pPr marL="0" lvl="0" indent="0" eaLnBrk="0" fontAlgn="base" hangingPunct="0">
              <a:lnSpc>
                <a:spcPct val="10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  User is redirected to the dashboard </a:t>
            </a:r>
          </a:p>
          <a:p>
            <a:pPr marL="0" lvl="0" indent="0" eaLnBrk="0" fontAlgn="base" hangingPunct="0">
              <a:lnSpc>
                <a:spcPct val="10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  User enters resume details</a:t>
            </a:r>
          </a:p>
          <a:p>
            <a:pPr marL="0" lvl="0" indent="0" eaLnBrk="0" fontAlgn="base" hangingPunct="0">
              <a:lnSpc>
                <a:spcPct val="10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  User saves the entered data </a:t>
            </a:r>
          </a:p>
          <a:p>
            <a:pPr marL="0" lvl="0" indent="0" eaLnBrk="0" fontAlgn="base" hangingPunct="0">
              <a:lnSpc>
                <a:spcPct val="10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  System generates resume preview </a:t>
            </a:r>
          </a:p>
          <a:p>
            <a:pPr marL="0" lvl="0" indent="0" eaLnBrk="0" fontAlgn="base" hangingPunct="0">
              <a:lnSpc>
                <a:spcPct val="10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  User downloads resume in PDF format </a:t>
            </a:r>
          </a:p>
          <a:p>
            <a:pPr marL="0" lvl="0" indent="0" eaLnBrk="0" fontAlgn="base" hangingPunct="0">
              <a:lnSpc>
                <a:spcPct val="10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   Process ends </a:t>
            </a:r>
          </a:p>
          <a:p>
            <a:endParaRPr lang="en-IN" sz="1800" dirty="0">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913EDF33-DF67-9E52-1ABB-47FC6726D216}"/>
              </a:ext>
            </a:extLst>
          </p:cNvPr>
          <p:cNvSpPr>
            <a:spLocks noGrp="1"/>
          </p:cNvSpPr>
          <p:nvPr>
            <p:ph type="title" idx="4294967295"/>
          </p:nvPr>
        </p:nvSpPr>
        <p:spPr>
          <a:xfrm>
            <a:off x="2114026" y="268288"/>
            <a:ext cx="3456263" cy="477837"/>
          </a:xfrm>
        </p:spPr>
        <p:txBody>
          <a:bodyPr/>
          <a:lstStyle/>
          <a:p>
            <a:r>
              <a:rPr lang="en-IN" sz="2800" b="1" dirty="0">
                <a:latin typeface="Times New Roman" panose="02020603050405020304" pitchFamily="18" charset="0"/>
                <a:cs typeface="Times New Roman" panose="02020603050405020304" pitchFamily="18" charset="0"/>
              </a:rPr>
              <a:t>         Flow Chart </a:t>
            </a:r>
          </a:p>
        </p:txBody>
      </p:sp>
      <p:pic>
        <p:nvPicPr>
          <p:cNvPr id="4" name="Picture 3">
            <a:extLst>
              <a:ext uri="{FF2B5EF4-FFF2-40B4-BE49-F238E27FC236}">
                <a16:creationId xmlns:a16="http://schemas.microsoft.com/office/drawing/2014/main" id="{7E118D98-0DA6-2D58-07E1-E612039FB90F}"/>
              </a:ext>
            </a:extLst>
          </p:cNvPr>
          <p:cNvPicPr>
            <a:picLocks noChangeAspect="1"/>
          </p:cNvPicPr>
          <p:nvPr/>
        </p:nvPicPr>
        <p:blipFill>
          <a:blip r:embed="rId2"/>
          <a:stretch>
            <a:fillRect/>
          </a:stretch>
        </p:blipFill>
        <p:spPr>
          <a:xfrm>
            <a:off x="495609" y="1124125"/>
            <a:ext cx="2767708" cy="5050171"/>
          </a:xfrm>
          <a:prstGeom prst="rect">
            <a:avLst/>
          </a:prstGeom>
        </p:spPr>
      </p:pic>
    </p:spTree>
    <p:extLst>
      <p:ext uri="{BB962C8B-B14F-4D97-AF65-F5344CB8AC3E}">
        <p14:creationId xmlns:p14="http://schemas.microsoft.com/office/powerpoint/2010/main" val="7526085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840F58-D6AA-685B-E0B8-C5719A015D0D}"/>
              </a:ext>
            </a:extLst>
          </p:cNvPr>
          <p:cNvPicPr>
            <a:picLocks noChangeAspect="1"/>
          </p:cNvPicPr>
          <p:nvPr/>
        </p:nvPicPr>
        <p:blipFill>
          <a:blip r:embed="rId2"/>
          <a:stretch>
            <a:fillRect/>
          </a:stretch>
        </p:blipFill>
        <p:spPr>
          <a:xfrm>
            <a:off x="2114207" y="1392572"/>
            <a:ext cx="4915586" cy="4664279"/>
          </a:xfrm>
          <a:prstGeom prst="rect">
            <a:avLst/>
          </a:prstGeom>
        </p:spPr>
      </p:pic>
      <p:sp>
        <p:nvSpPr>
          <p:cNvPr id="5" name="Title 4">
            <a:extLst>
              <a:ext uri="{FF2B5EF4-FFF2-40B4-BE49-F238E27FC236}">
                <a16:creationId xmlns:a16="http://schemas.microsoft.com/office/drawing/2014/main" id="{9C3A077F-2DD2-A53C-ECE1-80293465E9CE}"/>
              </a:ext>
            </a:extLst>
          </p:cNvPr>
          <p:cNvSpPr>
            <a:spLocks noGrp="1"/>
          </p:cNvSpPr>
          <p:nvPr>
            <p:ph type="title"/>
          </p:nvPr>
        </p:nvSpPr>
        <p:spPr>
          <a:xfrm>
            <a:off x="2550252" y="109056"/>
            <a:ext cx="3766297" cy="562063"/>
          </a:xfrm>
        </p:spPr>
        <p:txBody>
          <a:bodyPr/>
          <a:lstStyle/>
          <a:p>
            <a:r>
              <a:rPr lang="en-IN" sz="2400" b="1" dirty="0">
                <a:latin typeface="Times New Roman" panose="02020603050405020304" pitchFamily="18" charset="0"/>
                <a:cs typeface="Times New Roman" panose="02020603050405020304" pitchFamily="18" charset="0"/>
              </a:rPr>
              <a:t>Use Case Diagram</a:t>
            </a:r>
          </a:p>
        </p:txBody>
      </p:sp>
    </p:spTree>
    <p:extLst>
      <p:ext uri="{BB962C8B-B14F-4D97-AF65-F5344CB8AC3E}">
        <p14:creationId xmlns:p14="http://schemas.microsoft.com/office/powerpoint/2010/main" val="4058450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437E305-4B73-69CC-98C7-C994ECE5D204}"/>
              </a:ext>
            </a:extLst>
          </p:cNvPr>
          <p:cNvSpPr>
            <a:spLocks noGrp="1"/>
          </p:cNvSpPr>
          <p:nvPr>
            <p:ph type="subTitle"/>
          </p:nvPr>
        </p:nvSpPr>
        <p:spPr>
          <a:xfrm>
            <a:off x="457380" y="5427677"/>
            <a:ext cx="8229240" cy="461395"/>
          </a:xfrm>
        </p:spPr>
        <p:txBody>
          <a:bodyPr/>
          <a:lstStyle/>
          <a:p>
            <a:pPr marL="0" indent="0">
              <a:buNone/>
            </a:pPr>
            <a:r>
              <a:rPr lang="en-US" sz="2000" dirty="0">
                <a:latin typeface="Times New Roman" panose="02020603050405020304" pitchFamily="18" charset="0"/>
                <a:cs typeface="Times New Roman" panose="02020603050405020304" pitchFamily="18" charset="0"/>
              </a:rPr>
              <a:t>                          Sign In                                                          Sign Up</a:t>
            </a:r>
            <a:endParaRPr lang="en-IN" sz="20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61C750B4-8A90-71FF-13F7-A9BDFBA21C34}"/>
              </a:ext>
            </a:extLst>
          </p:cNvPr>
          <p:cNvSpPr>
            <a:spLocks noGrp="1"/>
          </p:cNvSpPr>
          <p:nvPr>
            <p:ph type="title"/>
          </p:nvPr>
        </p:nvSpPr>
        <p:spPr>
          <a:xfrm>
            <a:off x="2986481" y="319088"/>
            <a:ext cx="2911082" cy="342900"/>
          </a:xfrm>
        </p:spPr>
        <p:txBody>
          <a:bodyPr/>
          <a:lstStyle/>
          <a:p>
            <a:r>
              <a:rPr lang="en-US" sz="3200" dirty="0">
                <a:latin typeface="Times New Roman" panose="02020603050405020304" pitchFamily="18" charset="0"/>
                <a:cs typeface="Times New Roman" panose="02020603050405020304" pitchFamily="18" charset="0"/>
              </a:rPr>
              <a:t>Pics </a:t>
            </a:r>
            <a:endParaRPr lang="en-IN" sz="32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EB7785E-D8C3-8E3A-3EA5-42AA3AA98D71}"/>
              </a:ext>
            </a:extLst>
          </p:cNvPr>
          <p:cNvPicPr>
            <a:picLocks noChangeAspect="1"/>
          </p:cNvPicPr>
          <p:nvPr/>
        </p:nvPicPr>
        <p:blipFill>
          <a:blip r:embed="rId2"/>
          <a:stretch>
            <a:fillRect/>
          </a:stretch>
        </p:blipFill>
        <p:spPr>
          <a:xfrm>
            <a:off x="100668" y="1054508"/>
            <a:ext cx="4471332" cy="3951215"/>
          </a:xfrm>
          <a:prstGeom prst="rect">
            <a:avLst/>
          </a:prstGeom>
        </p:spPr>
      </p:pic>
      <p:pic>
        <p:nvPicPr>
          <p:cNvPr id="6" name="Picture 5">
            <a:extLst>
              <a:ext uri="{FF2B5EF4-FFF2-40B4-BE49-F238E27FC236}">
                <a16:creationId xmlns:a16="http://schemas.microsoft.com/office/drawing/2014/main" id="{C527F9E0-7DDD-657D-43A1-8B8F3ED7F723}"/>
              </a:ext>
            </a:extLst>
          </p:cNvPr>
          <p:cNvPicPr>
            <a:picLocks noChangeAspect="1"/>
          </p:cNvPicPr>
          <p:nvPr/>
        </p:nvPicPr>
        <p:blipFill>
          <a:blip r:embed="rId3"/>
          <a:stretch>
            <a:fillRect/>
          </a:stretch>
        </p:blipFill>
        <p:spPr>
          <a:xfrm>
            <a:off x="4714613" y="1054508"/>
            <a:ext cx="4160939" cy="3951213"/>
          </a:xfrm>
          <a:prstGeom prst="rect">
            <a:avLst/>
          </a:prstGeom>
        </p:spPr>
      </p:pic>
    </p:spTree>
    <p:extLst>
      <p:ext uri="{BB962C8B-B14F-4D97-AF65-F5344CB8AC3E}">
        <p14:creationId xmlns:p14="http://schemas.microsoft.com/office/powerpoint/2010/main" val="1460078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34E4D68-A4AB-04E9-A7B5-C12C46CE7495}"/>
              </a:ext>
            </a:extLst>
          </p:cNvPr>
          <p:cNvPicPr>
            <a:picLocks noChangeAspect="1"/>
          </p:cNvPicPr>
          <p:nvPr/>
        </p:nvPicPr>
        <p:blipFill>
          <a:blip r:embed="rId2"/>
          <a:stretch>
            <a:fillRect/>
          </a:stretch>
        </p:blipFill>
        <p:spPr>
          <a:xfrm>
            <a:off x="192947" y="1165370"/>
            <a:ext cx="3967992" cy="4312641"/>
          </a:xfrm>
          <a:prstGeom prst="rect">
            <a:avLst/>
          </a:prstGeom>
        </p:spPr>
      </p:pic>
      <p:pic>
        <p:nvPicPr>
          <p:cNvPr id="6" name="Picture 5">
            <a:extLst>
              <a:ext uri="{FF2B5EF4-FFF2-40B4-BE49-F238E27FC236}">
                <a16:creationId xmlns:a16="http://schemas.microsoft.com/office/drawing/2014/main" id="{CBDF567D-0989-4226-9C53-9A1DB3E0FA06}"/>
              </a:ext>
            </a:extLst>
          </p:cNvPr>
          <p:cNvPicPr>
            <a:picLocks noChangeAspect="1"/>
          </p:cNvPicPr>
          <p:nvPr/>
        </p:nvPicPr>
        <p:blipFill>
          <a:blip r:embed="rId3"/>
          <a:stretch>
            <a:fillRect/>
          </a:stretch>
        </p:blipFill>
        <p:spPr>
          <a:xfrm>
            <a:off x="4345496" y="1173759"/>
            <a:ext cx="4462944" cy="4237140"/>
          </a:xfrm>
          <a:prstGeom prst="rect">
            <a:avLst/>
          </a:prstGeom>
        </p:spPr>
      </p:pic>
      <p:sp>
        <p:nvSpPr>
          <p:cNvPr id="7" name="Title 1">
            <a:extLst>
              <a:ext uri="{FF2B5EF4-FFF2-40B4-BE49-F238E27FC236}">
                <a16:creationId xmlns:a16="http://schemas.microsoft.com/office/drawing/2014/main" id="{FCAE23A4-8D48-AF25-DF28-A8A71F789856}"/>
              </a:ext>
            </a:extLst>
          </p:cNvPr>
          <p:cNvSpPr>
            <a:spLocks noGrp="1"/>
          </p:cNvSpPr>
          <p:nvPr>
            <p:ph type="title"/>
          </p:nvPr>
        </p:nvSpPr>
        <p:spPr>
          <a:xfrm>
            <a:off x="268448" y="5692630"/>
            <a:ext cx="8539992" cy="817226"/>
          </a:xfrm>
        </p:spPr>
        <p:txBody>
          <a:bodyPr/>
          <a:lstStyle/>
          <a:p>
            <a:r>
              <a:rPr lang="en-IN" sz="1600" dirty="0">
                <a:latin typeface="Times New Roman" panose="02020603050405020304" pitchFamily="18" charset="0"/>
                <a:cs typeface="Times New Roman" panose="02020603050405020304" pitchFamily="18" charset="0"/>
              </a:rPr>
              <a:t>                        About Page                                                                      Contact Page</a:t>
            </a:r>
          </a:p>
        </p:txBody>
      </p:sp>
    </p:spTree>
    <p:extLst>
      <p:ext uri="{BB962C8B-B14F-4D97-AF65-F5344CB8AC3E}">
        <p14:creationId xmlns:p14="http://schemas.microsoft.com/office/powerpoint/2010/main" val="2995264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DEEA6-2F02-2BC0-C703-D35D06E28F5D}"/>
              </a:ext>
            </a:extLst>
          </p:cNvPr>
          <p:cNvSpPr>
            <a:spLocks noGrp="1"/>
          </p:cNvSpPr>
          <p:nvPr>
            <p:ph type="title"/>
          </p:nvPr>
        </p:nvSpPr>
        <p:spPr>
          <a:xfrm>
            <a:off x="3221372" y="100668"/>
            <a:ext cx="2650562" cy="662370"/>
          </a:xfrm>
        </p:spPr>
        <p:txBody>
          <a:bodyPr/>
          <a:lstStyle/>
          <a:p>
            <a:r>
              <a:rPr lang="en-US" sz="2800" b="1" dirty="0">
                <a:latin typeface="Times New Roman" panose="02020603050405020304" pitchFamily="18" charset="0"/>
                <a:cs typeface="Times New Roman" panose="02020603050405020304" pitchFamily="18" charset="0"/>
              </a:rPr>
              <a:t>Result</a:t>
            </a:r>
            <a:endParaRPr lang="en-IN" sz="28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D7F938D-FCB4-4F25-63A0-BAC73D91D40B}"/>
              </a:ext>
            </a:extLst>
          </p:cNvPr>
          <p:cNvPicPr>
            <a:picLocks noChangeAspect="1"/>
          </p:cNvPicPr>
          <p:nvPr/>
        </p:nvPicPr>
        <p:blipFill>
          <a:blip r:embed="rId2"/>
          <a:stretch>
            <a:fillRect/>
          </a:stretch>
        </p:blipFill>
        <p:spPr>
          <a:xfrm>
            <a:off x="302005" y="1119567"/>
            <a:ext cx="4060270" cy="4333278"/>
          </a:xfrm>
          <a:prstGeom prst="rect">
            <a:avLst/>
          </a:prstGeom>
        </p:spPr>
      </p:pic>
      <p:pic>
        <p:nvPicPr>
          <p:cNvPr id="5" name="Picture 4">
            <a:extLst>
              <a:ext uri="{FF2B5EF4-FFF2-40B4-BE49-F238E27FC236}">
                <a16:creationId xmlns:a16="http://schemas.microsoft.com/office/drawing/2014/main" id="{0E63C59B-979E-8C1A-D474-BCEF09D9D23A}"/>
              </a:ext>
            </a:extLst>
          </p:cNvPr>
          <p:cNvPicPr>
            <a:picLocks noChangeAspect="1"/>
          </p:cNvPicPr>
          <p:nvPr/>
        </p:nvPicPr>
        <p:blipFill>
          <a:blip r:embed="rId3"/>
          <a:stretch>
            <a:fillRect/>
          </a:stretch>
        </p:blipFill>
        <p:spPr>
          <a:xfrm>
            <a:off x="4848838" y="1119568"/>
            <a:ext cx="3871518" cy="4333278"/>
          </a:xfrm>
          <a:prstGeom prst="rect">
            <a:avLst/>
          </a:prstGeom>
        </p:spPr>
      </p:pic>
      <p:sp>
        <p:nvSpPr>
          <p:cNvPr id="3" name="Title 1">
            <a:extLst>
              <a:ext uri="{FF2B5EF4-FFF2-40B4-BE49-F238E27FC236}">
                <a16:creationId xmlns:a16="http://schemas.microsoft.com/office/drawing/2014/main" id="{3DD72A4C-FE58-686A-60FD-4F90A0B9EBA8}"/>
              </a:ext>
            </a:extLst>
          </p:cNvPr>
          <p:cNvSpPr txBox="1">
            <a:spLocks/>
          </p:cNvSpPr>
          <p:nvPr/>
        </p:nvSpPr>
        <p:spPr>
          <a:xfrm>
            <a:off x="0" y="5809373"/>
            <a:ext cx="8976220" cy="616593"/>
          </a:xfrm>
          <a:prstGeom prst="rect">
            <a:avLst/>
          </a:prstGeom>
        </p:spPr>
        <p:txBody>
          <a:bodyPr lIns="0" tIns="0" rIns="0" bIns="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1800" dirty="0">
                <a:latin typeface="Times New Roman" panose="02020603050405020304" pitchFamily="18" charset="0"/>
                <a:cs typeface="Times New Roman" panose="02020603050405020304" pitchFamily="18" charset="0"/>
              </a:rPr>
              <a:t>                               Dashboard                                                                Resume</a:t>
            </a:r>
          </a:p>
        </p:txBody>
      </p:sp>
    </p:spTree>
    <p:extLst>
      <p:ext uri="{BB962C8B-B14F-4D97-AF65-F5344CB8AC3E}">
        <p14:creationId xmlns:p14="http://schemas.microsoft.com/office/powerpoint/2010/main" val="19463775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CB46F-2022-30A0-BB03-0545DB9EA95D}"/>
              </a:ext>
            </a:extLst>
          </p:cNvPr>
          <p:cNvSpPr>
            <a:spLocks noGrp="1"/>
          </p:cNvSpPr>
          <p:nvPr>
            <p:ph type="title"/>
          </p:nvPr>
        </p:nvSpPr>
        <p:spPr>
          <a:xfrm>
            <a:off x="2827090" y="167780"/>
            <a:ext cx="3137482" cy="494950"/>
          </a:xfrm>
        </p:spPr>
        <p:txBody>
          <a:bodyPr/>
          <a:lstStyle/>
          <a:p>
            <a:r>
              <a:rPr lang="en-IN" sz="2800" b="1" dirty="0">
                <a:latin typeface="Times New Roman" panose="02020603050405020304" pitchFamily="18" charset="0"/>
                <a:cs typeface="Times New Roman" panose="02020603050405020304" pitchFamily="18" charset="0"/>
              </a:rPr>
              <a:t>Conclusion</a:t>
            </a:r>
          </a:p>
        </p:txBody>
      </p:sp>
      <p:sp>
        <p:nvSpPr>
          <p:cNvPr id="3" name="Subtitle 2">
            <a:extLst>
              <a:ext uri="{FF2B5EF4-FFF2-40B4-BE49-F238E27FC236}">
                <a16:creationId xmlns:a16="http://schemas.microsoft.com/office/drawing/2014/main" id="{36553DEC-A3AD-1C81-89D1-7AD062D01833}"/>
              </a:ext>
            </a:extLst>
          </p:cNvPr>
          <p:cNvSpPr>
            <a:spLocks noGrp="1"/>
          </p:cNvSpPr>
          <p:nvPr>
            <p:ph type="subTitle"/>
          </p:nvPr>
        </p:nvSpPr>
        <p:spPr>
          <a:xfrm>
            <a:off x="457200" y="1174460"/>
            <a:ext cx="8229240" cy="3934436"/>
          </a:xfrm>
        </p:spPr>
        <p:txBody>
          <a:bodyPr/>
          <a:lstStyle/>
          <a:p>
            <a:pPr marL="114300" indent="0">
              <a:buNone/>
            </a:pPr>
            <a:r>
              <a:rPr lang="en-US" sz="1800" dirty="0">
                <a:latin typeface="Times New Roman" panose="02020603050405020304" pitchFamily="18" charset="0"/>
                <a:cs typeface="Times New Roman" panose="02020603050405020304" pitchFamily="18" charset="0"/>
              </a:rPr>
              <a:t>The Resume Builder is a simple and user-friendly application that helps users create professional resumes quickly and easily. It reduces the effort of manual formatting by providing structured templates and organized input fields. This project improves productivity and ensures a clean, well-designed resume. </a:t>
            </a:r>
          </a:p>
          <a:p>
            <a:pPr marL="114300" indent="0">
              <a:buNone/>
            </a:pPr>
            <a:endParaRPr lang="en-US" sz="1800" dirty="0">
              <a:latin typeface="Times New Roman" panose="02020603050405020304" pitchFamily="18" charset="0"/>
              <a:cs typeface="Times New Roman" panose="02020603050405020304" pitchFamily="18" charset="0"/>
            </a:endParaRPr>
          </a:p>
          <a:p>
            <a:pPr marL="114300" indent="0">
              <a:buNone/>
            </a:pPr>
            <a:r>
              <a:rPr lang="en-US" sz="1800" dirty="0">
                <a:latin typeface="Times New Roman" panose="02020603050405020304" pitchFamily="18" charset="0"/>
                <a:cs typeface="Times New Roman" panose="02020603050405020304" pitchFamily="18" charset="0"/>
              </a:rPr>
              <a:t>It is easy to use and does not require any technical knowledge. The application ensures a professional and attractive resume format. Overall, it is a practical and efficient solution for modern resume creation.</a:t>
            </a:r>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44180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F283B-F8ED-C675-F744-5B85FAACA7D7}"/>
              </a:ext>
            </a:extLst>
          </p:cNvPr>
          <p:cNvSpPr>
            <a:spLocks noGrp="1"/>
          </p:cNvSpPr>
          <p:nvPr>
            <p:ph type="title"/>
          </p:nvPr>
        </p:nvSpPr>
        <p:spPr>
          <a:xfrm>
            <a:off x="2315360" y="335560"/>
            <a:ext cx="3170679" cy="327170"/>
          </a:xfrm>
        </p:spPr>
        <p:txBody>
          <a:bodyPr/>
          <a:lstStyle/>
          <a:p>
            <a:r>
              <a:rPr lang="en-IN" sz="2800" b="1" dirty="0">
                <a:latin typeface="Times New Roman" panose="02020603050405020304" pitchFamily="18" charset="0"/>
                <a:cs typeface="Times New Roman" panose="02020603050405020304" pitchFamily="18" charset="0"/>
              </a:rPr>
              <a:t>Future Scope</a:t>
            </a:r>
          </a:p>
        </p:txBody>
      </p:sp>
      <p:sp>
        <p:nvSpPr>
          <p:cNvPr id="3" name="Subtitle 2">
            <a:extLst>
              <a:ext uri="{FF2B5EF4-FFF2-40B4-BE49-F238E27FC236}">
                <a16:creationId xmlns:a16="http://schemas.microsoft.com/office/drawing/2014/main" id="{40463FDE-223A-88FF-F767-6754968AC8CE}"/>
              </a:ext>
            </a:extLst>
          </p:cNvPr>
          <p:cNvSpPr>
            <a:spLocks noGrp="1"/>
          </p:cNvSpPr>
          <p:nvPr>
            <p:ph type="subTitle"/>
          </p:nvPr>
        </p:nvSpPr>
        <p:spPr>
          <a:xfrm>
            <a:off x="687896" y="1342240"/>
            <a:ext cx="7583649" cy="3103926"/>
          </a:xfrm>
        </p:spPr>
        <p:txBody>
          <a:bodyPr/>
          <a:lstStyle/>
          <a:p>
            <a:pPr marL="342900" eaLnBrk="0" fontAlgn="base" hangingPunct="0">
              <a:spcBef>
                <a:spcPct val="0"/>
              </a:spcBef>
              <a:spcAft>
                <a:spcPct val="0"/>
              </a:spcAft>
              <a:buClrTx/>
              <a:buSzTx/>
            </a:pPr>
            <a:endParaRPr lang="en-US" altLang="en-US" sz="2000" dirty="0">
              <a:latin typeface="Times New Roman" panose="02020603050405020304" pitchFamily="18" charset="0"/>
              <a:cs typeface="Times New Roman" panose="02020603050405020304" pitchFamily="18" charset="0"/>
            </a:endParaRPr>
          </a:p>
          <a:p>
            <a:pPr eaLnBrk="0" fontAlgn="base" hangingPunct="0">
              <a:spcAft>
                <a:spcPct val="0"/>
              </a:spcAft>
              <a:buFontTx/>
              <a:buChar char="•"/>
            </a:pPr>
            <a:r>
              <a:rPr lang="en-US" altLang="en-US" sz="2000" dirty="0">
                <a:latin typeface="Times New Roman" panose="02020603050405020304" pitchFamily="18" charset="0"/>
                <a:cs typeface="Times New Roman" panose="02020603050405020304" pitchFamily="18" charset="0"/>
              </a:rPr>
              <a:t>    In Future , more templates can be included for different job roles. </a:t>
            </a:r>
          </a:p>
          <a:p>
            <a:pPr marL="342900" eaLnBrk="0" fontAlgn="base" hangingPunct="0">
              <a:spcBef>
                <a:spcPct val="0"/>
              </a:spcBef>
              <a:spcAft>
                <a:spcPct val="0"/>
              </a:spcAft>
              <a:buClrTx/>
              <a:buSzTx/>
            </a:pPr>
            <a:endParaRPr lang="en-US" altLang="en-US" sz="2000" dirty="0">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    Users can get suggestions to improve their resume quality. </a:t>
            </a:r>
          </a:p>
          <a:p>
            <a:pPr marL="342900" eaLnBrk="0" fontAlgn="base" hangingPunct="0">
              <a:spcBef>
                <a:spcPct val="0"/>
              </a:spcBef>
              <a:spcAft>
                <a:spcPct val="0"/>
              </a:spcAft>
              <a:buClrTx/>
              <a:buSzTx/>
            </a:pPr>
            <a:endParaRPr lang="en-US" altLang="en-US" sz="2000" dirty="0">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    The system can be made faster and more user-friendly. </a:t>
            </a:r>
          </a:p>
          <a:p>
            <a:pPr marL="342900" eaLnBrk="0" fontAlgn="base" hangingPunct="0">
              <a:spcBef>
                <a:spcPct val="0"/>
              </a:spcBef>
              <a:spcAft>
                <a:spcPct val="0"/>
              </a:spcAft>
              <a:buClrTx/>
              <a:buSzTx/>
            </a:pPr>
            <a:endParaRPr lang="en-US" altLang="en-US" sz="2000" dirty="0">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    Resume sharing through link or email can be added. </a:t>
            </a:r>
          </a:p>
          <a:p>
            <a:pPr marL="0" lvl="0" indent="0" eaLnBrk="0" fontAlgn="base" hangingPunct="0">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marL="342900" indent="-342900" eaLnBrk="0" fontAlgn="base" hangingPunct="0">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More professional and creative templates can be included for different job roles. </a:t>
            </a: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85932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8EB46-133C-5773-2E67-53C6CB6B8834}"/>
              </a:ext>
            </a:extLst>
          </p:cNvPr>
          <p:cNvSpPr>
            <a:spLocks noGrp="1"/>
          </p:cNvSpPr>
          <p:nvPr>
            <p:ph type="title"/>
          </p:nvPr>
        </p:nvSpPr>
        <p:spPr>
          <a:xfrm>
            <a:off x="3103927" y="243280"/>
            <a:ext cx="2483141" cy="444617"/>
          </a:xfrm>
        </p:spPr>
        <p:txBody>
          <a:bodyPr/>
          <a:lstStyle/>
          <a:p>
            <a:r>
              <a:rPr lang="en-IN" sz="2400" b="1" dirty="0">
                <a:latin typeface="Times New Roman" panose="02020603050405020304" pitchFamily="18" charset="0"/>
                <a:cs typeface="Times New Roman" panose="02020603050405020304" pitchFamily="18" charset="0"/>
              </a:rPr>
              <a:t>References</a:t>
            </a:r>
          </a:p>
        </p:txBody>
      </p:sp>
      <p:sp>
        <p:nvSpPr>
          <p:cNvPr id="3" name="Subtitle 2">
            <a:extLst>
              <a:ext uri="{FF2B5EF4-FFF2-40B4-BE49-F238E27FC236}">
                <a16:creationId xmlns:a16="http://schemas.microsoft.com/office/drawing/2014/main" id="{F3700471-E2FC-CACF-75DF-FA1402FF5C06}"/>
              </a:ext>
            </a:extLst>
          </p:cNvPr>
          <p:cNvSpPr>
            <a:spLocks noGrp="1"/>
          </p:cNvSpPr>
          <p:nvPr>
            <p:ph type="subTitle"/>
          </p:nvPr>
        </p:nvSpPr>
        <p:spPr>
          <a:xfrm>
            <a:off x="457200" y="1442906"/>
            <a:ext cx="8229240" cy="4138894"/>
          </a:xfrm>
        </p:spPr>
        <p:txBody>
          <a:bodyPr/>
          <a:lstStyle/>
          <a:p>
            <a:pPr marL="0" lvl="0" indent="0" eaLnBrk="0" fontAlgn="base" hangingPunct="0">
              <a:spcBef>
                <a:spcPct val="0"/>
              </a:spcBef>
              <a:spcAft>
                <a:spcPct val="0"/>
              </a:spcAft>
              <a:buFontTx/>
              <a:buChar char="•"/>
            </a:pPr>
            <a:r>
              <a:rPr lang="en-US" altLang="en-US" sz="2000" b="1" dirty="0">
                <a:latin typeface="Times New Roman" panose="02020603050405020304" pitchFamily="18" charset="0"/>
                <a:cs typeface="Times New Roman" panose="02020603050405020304" pitchFamily="18" charset="0"/>
              </a:rPr>
              <a:t>React Documentation</a:t>
            </a:r>
            <a:r>
              <a:rPr lang="en-US" altLang="en-US" sz="2000" dirty="0">
                <a:latin typeface="Times New Roman" panose="02020603050405020304" pitchFamily="18" charset="0"/>
                <a:cs typeface="Times New Roman" panose="02020603050405020304" pitchFamily="18" charset="0"/>
              </a:rPr>
              <a:t> – For building user interface components</a:t>
            </a:r>
            <a:br>
              <a:rPr lang="en-US" altLang="en-US" sz="2000"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hlinkClick r:id="rId2"/>
              </a:rPr>
              <a:t>https://react.dev</a:t>
            </a:r>
            <a:r>
              <a:rPr lang="en-US" altLang="en-US" sz="2000" dirty="0">
                <a:latin typeface="Times New Roman" panose="02020603050405020304" pitchFamily="18" charset="0"/>
                <a:cs typeface="Times New Roman" panose="02020603050405020304" pitchFamily="18" charset="0"/>
              </a:rPr>
              <a:t> </a:t>
            </a:r>
          </a:p>
          <a:p>
            <a:pPr marL="0" lvl="0" indent="0" eaLnBrk="0" fontAlgn="base" hangingPunct="0">
              <a:spcBef>
                <a:spcPct val="0"/>
              </a:spcBef>
              <a:spcAft>
                <a:spcPct val="0"/>
              </a:spcAft>
              <a:buClrTx/>
              <a:buSzTx/>
              <a:buNone/>
            </a:pPr>
            <a:endParaRPr lang="en-US" altLang="en-US" sz="2000" dirty="0">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FontTx/>
              <a:buChar char="•"/>
            </a:pPr>
            <a:r>
              <a:rPr lang="en-US" altLang="en-US" sz="2000" b="1" dirty="0">
                <a:latin typeface="Times New Roman" panose="02020603050405020304" pitchFamily="18" charset="0"/>
                <a:cs typeface="Times New Roman" panose="02020603050405020304" pitchFamily="18" charset="0"/>
              </a:rPr>
              <a:t>Tailwind CSS Documentation</a:t>
            </a:r>
            <a:r>
              <a:rPr lang="en-US" altLang="en-US" sz="2000" dirty="0">
                <a:latin typeface="Times New Roman" panose="02020603050405020304" pitchFamily="18" charset="0"/>
                <a:cs typeface="Times New Roman" panose="02020603050405020304" pitchFamily="18" charset="0"/>
              </a:rPr>
              <a:t> – For designing modern and responsive UI</a:t>
            </a:r>
            <a:br>
              <a:rPr lang="en-US" altLang="en-US" sz="2000"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hlinkClick r:id="rId3"/>
              </a:rPr>
              <a:t>https://tailwindcss.com</a:t>
            </a:r>
            <a:r>
              <a:rPr lang="en-US" altLang="en-US" sz="2000" dirty="0">
                <a:latin typeface="Times New Roman" panose="02020603050405020304" pitchFamily="18" charset="0"/>
                <a:cs typeface="Times New Roman" panose="02020603050405020304" pitchFamily="18" charset="0"/>
              </a:rPr>
              <a:t> </a:t>
            </a:r>
          </a:p>
          <a:p>
            <a:pPr marL="0" lvl="0" indent="0" eaLnBrk="0" fontAlgn="base" hangingPunct="0">
              <a:spcBef>
                <a:spcPct val="0"/>
              </a:spcBef>
              <a:spcAft>
                <a:spcPct val="0"/>
              </a:spcAft>
              <a:buClrTx/>
              <a:buSzTx/>
              <a:buNone/>
            </a:pPr>
            <a:endParaRPr lang="en-US" altLang="en-US" sz="2000" dirty="0">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FontTx/>
              <a:buChar char="•"/>
            </a:pPr>
            <a:r>
              <a:rPr lang="en-IN" sz="2000" b="1" dirty="0">
                <a:latin typeface="Times New Roman" panose="02020603050405020304" pitchFamily="18" charset="0"/>
                <a:cs typeface="Times New Roman" panose="02020603050405020304" pitchFamily="18" charset="0"/>
              </a:rPr>
              <a:t>MongoDB Documentation</a:t>
            </a:r>
            <a:r>
              <a:rPr lang="en-IN" sz="2000" dirty="0">
                <a:latin typeface="Times New Roman" panose="02020603050405020304" pitchFamily="18" charset="0"/>
                <a:cs typeface="Times New Roman" panose="02020603050405020304" pitchFamily="18" charset="0"/>
              </a:rPr>
              <a:t> – </a:t>
            </a:r>
            <a:r>
              <a:rPr lang="en-IN" sz="2000" dirty="0">
                <a:latin typeface="Times New Roman" panose="02020603050405020304" pitchFamily="18" charset="0"/>
                <a:cs typeface="Times New Roman" panose="02020603050405020304" pitchFamily="18" charset="0"/>
                <a:hlinkClick r:id="rId4"/>
              </a:rPr>
              <a:t>https://www.mongodb.com/docs/</a:t>
            </a:r>
            <a:endParaRPr lang="en-US" alt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51897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8" y="2821578"/>
            <a:ext cx="6462240" cy="802466"/>
          </a:xfrm>
          <a:prstGeom prst="rect">
            <a:avLst/>
          </a:prstGeom>
          <a:noFill/>
          <a:ln w="9360">
            <a:noFill/>
          </a:ln>
        </p:spPr>
        <p:txBody>
          <a:bodyPr anchor="ctr">
            <a:noAutofit/>
          </a:bodyPr>
          <a:lstStyle/>
          <a:p>
            <a:pPr algn="ctr">
              <a:lnSpc>
                <a:spcPct val="100000"/>
              </a:lnSpc>
            </a:pPr>
            <a:r>
              <a:rPr lang="en" sz="4800" b="1" dirty="0">
                <a:latin typeface="Times New Roman" panose="02020603050405020304" pitchFamily="18" charset="0"/>
                <a:cs typeface="Times New Roman" panose="02020603050405020304" pitchFamily="18" charset="0"/>
              </a:rPr>
              <a:t>Thank</a:t>
            </a:r>
            <a:r>
              <a:rPr lang="en" sz="4400" b="1" dirty="0">
                <a:latin typeface="Times New Roman" panose="02020603050405020304" pitchFamily="18" charset="0"/>
                <a:cs typeface="Times New Roman" panose="02020603050405020304" pitchFamily="18" charset="0"/>
              </a:rPr>
              <a:t> You</a:t>
            </a:r>
            <a:endParaRPr lang="en-US" sz="44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16</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34901</TotalTime>
  <Words>850</Words>
  <Application>Microsoft Office PowerPoint</Application>
  <PresentationFormat>On-screen Show (4:3)</PresentationFormat>
  <Paragraphs>138</Paragraphs>
  <Slides>16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PowerPoint Presentation</vt:lpstr>
      <vt:lpstr>Index</vt:lpstr>
      <vt:lpstr>PowerPoint Presentation</vt:lpstr>
      <vt:lpstr>SDG goals</vt:lpstr>
      <vt:lpstr>Problem Statement &amp; Solution Statement</vt:lpstr>
      <vt:lpstr>Objectives</vt:lpstr>
      <vt:lpstr>Technologies Used</vt:lpstr>
      <vt:lpstr>         Flow Chart </vt:lpstr>
      <vt:lpstr>Use Case Diagram</vt:lpstr>
      <vt:lpstr>Pics </vt:lpstr>
      <vt:lpstr>                        About Page                                                                      Contact Page</vt:lpstr>
      <vt:lpstr>Result</vt:lpstr>
      <vt:lpstr>Conclusion</vt:lpstr>
      <vt:lpstr>Future Scope</vt:lpstr>
      <vt:lpstr>References</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Sneha Kumari</cp:lastModifiedBy>
  <cp:revision>2303</cp:revision>
  <dcterms:created xsi:type="dcterms:W3CDTF">2010-04-09T07:36:15Z</dcterms:created>
  <dcterms:modified xsi:type="dcterms:W3CDTF">2026-05-01T06:12:14Z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